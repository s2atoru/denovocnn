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4924044" y="1234440"/>
            <a:ext cx="566928" cy="566928"/>
          </a:xfrm>
          <a:prstGeom prst="ellipse">
            <a:avLst/>
          </a:prstGeom>
          <a:solidFill>
            <a:srgbClr val="E0524F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11012" y="1234440"/>
            <a:ext cx="566928" cy="566928"/>
          </a:xfrm>
          <a:prstGeom prst="ellipse">
            <a:avLst/>
          </a:prstGeom>
          <a:solidFill>
            <a:srgbClr val="3FA35D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97980" y="1234440"/>
            <a:ext cx="566928" cy="566928"/>
          </a:xfrm>
          <a:prstGeom prst="ellipse">
            <a:avLst/>
          </a:prstGeom>
          <a:solidFill>
            <a:srgbClr val="4C8FBF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0" y="1874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2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child</a:t>
            </a:r>
            <a:pPr algn="ctr" indent="0" marL="0">
              <a:buNone/>
            </a:pPr>
            <a:r>
              <a:rPr lang="en-US" sz="1300" b="1" dirty="0">
                <a:solidFill>
                  <a:srgbClr val="3FA3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  father</a:t>
            </a:r>
            <a:pPr algn="ctr" indent="0" marL="0">
              <a:buNone/>
            </a:pPr>
            <a:r>
              <a:rPr lang="en-US" sz="1300" b="1" dirty="0">
                <a:solidFill>
                  <a:srgbClr val="4C8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    mother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DeNovoCNN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E3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現在のコードベースでできること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2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トリオ NGS データからの de novo 変異検出 — 機能と現状(作業途中)の整理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49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2026-05-30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DeNovoCNN とは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6400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子・父・母トリオの BAM/CRAM + VCF から de novo 変異 (DNM) を検出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変異周辺のパイルアップ領域を 160×164 の RGB 画像に変換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child = R / father = G / mother = B の3チャンネル合成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置換・挿入・欠失それぞれ独立した3つの CNN モデルで分類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IGV 目視確認を自動化する偽陽性フィルタ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79792" y="2221992"/>
            <a:ext cx="4151376" cy="20654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6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1" name="Image 0" descr="/home/sugimoto/Python/DeNovoCNN/docs/slides/assets/sample_sn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331720"/>
            <a:ext cx="3931920" cy="18459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79792" y="43239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トリオ RGB 画像の例 (160×164)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23760" y="45983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各列=1塩基を A/C/T/G の4画素に one-hot 符号化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処理パイプライン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48840"/>
            <a:ext cx="1965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Shape 9"/>
          <p:cNvSpPr/>
          <p:nvPr/>
        </p:nvSpPr>
        <p:spPr>
          <a:xfrm>
            <a:off x="982980" y="244144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50" y="2655418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208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11480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3721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VCF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BAM/CRAM ×3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395728" y="31089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761488" y="214884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61488" y="2148840"/>
            <a:ext cx="1965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Shape 16"/>
          <p:cNvSpPr/>
          <p:nvPr/>
        </p:nvSpPr>
        <p:spPr>
          <a:xfrm>
            <a:off x="3332988" y="244144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958" y="2655418"/>
            <a:ext cx="395021" cy="3950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71216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2761488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候補抽出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2852928" y="3721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bcftools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isec -C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45736" y="31089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5111496" y="214884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111496" y="2148840"/>
            <a:ext cx="1965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Shape 23"/>
          <p:cNvSpPr/>
          <p:nvPr/>
        </p:nvSpPr>
        <p:spPr>
          <a:xfrm>
            <a:off x="5682996" y="244144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66" y="2655418"/>
            <a:ext cx="395021" cy="39502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21224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5111496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画像生成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5202936" y="3721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トリオ RGB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パイルアップ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7095744" y="31089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8"/>
          <p:cNvSpPr/>
          <p:nvPr/>
        </p:nvSpPr>
        <p:spPr>
          <a:xfrm>
            <a:off x="7461504" y="214884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461504" y="2148840"/>
            <a:ext cx="1965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Shape 30"/>
          <p:cNvSpPr/>
          <p:nvPr/>
        </p:nvSpPr>
        <p:spPr>
          <a:xfrm>
            <a:off x="8033004" y="244144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974" y="2655418"/>
            <a:ext cx="395021" cy="39502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571232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7461504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CNN 分類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7552944" y="3721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snp / ins /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3モデル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9445752" y="31089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hape 35"/>
          <p:cNvSpPr/>
          <p:nvPr/>
        </p:nvSpPr>
        <p:spPr>
          <a:xfrm>
            <a:off x="9811512" y="214884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811512" y="2148840"/>
            <a:ext cx="196596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3" name="Shape 37"/>
          <p:cNvSpPr/>
          <p:nvPr/>
        </p:nvSpPr>
        <p:spPr>
          <a:xfrm>
            <a:off x="10383012" y="2441448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6982" y="2655418"/>
            <a:ext cx="395021" cy="395021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921240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6D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5</a:t>
            </a:r>
            <a:endParaRPr lang="en-US" sz="2000" dirty="0"/>
          </a:p>
        </p:txBody>
      </p:sp>
      <p:sp>
        <p:nvSpPr>
          <p:cNvPr id="46" name="Text 39"/>
          <p:cNvSpPr/>
          <p:nvPr/>
        </p:nvSpPr>
        <p:spPr>
          <a:xfrm>
            <a:off x="9811512" y="3355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DNM 確率</a:t>
            </a:r>
            <a:endParaRPr lang="en-US" sz="1500" dirty="0"/>
          </a:p>
        </p:txBody>
      </p:sp>
      <p:sp>
        <p:nvSpPr>
          <p:cNvPr id="47" name="Text 40"/>
          <p:cNvSpPr/>
          <p:nvPr/>
        </p:nvSpPr>
        <p:spPr>
          <a:xfrm>
            <a:off x="9902952" y="3721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閾値 ≥ 0.5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で de novo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7F1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現在の既定動作は ③ 画像生成で停止（予測フローはコメントアウト中）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CAPABILITY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de novo 候補の自動抽出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79039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6002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apply_denovocnn.sh が トリオ VCF 3つを前処理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bcftools sort → bgzip → tabix で索引付け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isec -C で「子のみに存在し両親に無い」変異を抽出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de novo 候補リスト (5列 TSV) を自動生成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463040" y="3886200"/>
            <a:ext cx="5486400" cy="1371600"/>
          </a:xfrm>
          <a:prstGeom prst="rect">
            <a:avLst/>
          </a:prstGeom>
          <a:solidFill>
            <a:srgbClr val="12303F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645920" y="4041648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7E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bcftools isec -C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7E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child.vcf.gz father.vcf.gz mother.vcf.gz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7E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&gt; variants_list.txt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16916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0" y="1691640"/>
            <a:ext cx="109728" cy="35661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約 10×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76809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評価対象の変異数を削減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80960" y="3657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WES:  &lt; 10,000 変異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E606A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WGS:  ~ 100,000 変異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CAPABILITY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パイルアップ画像の生成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save_images() がトリオ RGB 画像を PNG 出力 </a:t>
            </a:r>
            <a:pPr indent="0" marL="0">
              <a:buNone/>
            </a:pPr>
            <a:r>
              <a:rPr lang="en-US" sz="1500" b="1" dirty="0">
                <a:solidFill>
                  <a:srgbClr val="C77F1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（現在の既定動作）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" y="2377440"/>
            <a:ext cx="3383280" cy="16854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6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1" name="Image 0" descr="/home/sugimoto/Python/DeNovoCNN/docs/slides/assets/sample_sn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468880"/>
            <a:ext cx="3200400" cy="150253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63140" y="4136007"/>
            <a:ext cx="164592" cy="164592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" y="433717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 (SNP)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02836" y="2377440"/>
            <a:ext cx="3383280" cy="16854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6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5" name="Image 1" descr="/home/sugimoto/Python/DeNovoCNN/docs/slides/assets/sample_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468880"/>
            <a:ext cx="3200400" cy="150253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12180" y="4136007"/>
            <a:ext cx="164592" cy="164592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17" name="Text 13"/>
          <p:cNvSpPr/>
          <p:nvPr/>
        </p:nvSpPr>
        <p:spPr>
          <a:xfrm>
            <a:off x="4311396" y="433717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欠失 (Deletion)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51876" y="2377440"/>
            <a:ext cx="3383280" cy="16854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6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9" name="Image 2" descr="/home/sugimoto/Python/DeNovoCNN/docs/slides/assets/sample_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2468880"/>
            <a:ext cx="3200400" cy="150253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761220" y="4136007"/>
            <a:ext cx="164592" cy="164592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21" name="Text 16"/>
          <p:cNvSpPr/>
          <p:nvPr/>
        </p:nvSpPr>
        <p:spPr>
          <a:xfrm>
            <a:off x="8060436" y="433717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挿入 (Insertion)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1000 枚 ≈ 4 秒</a:t>
            </a:r>
            <a:pPr algn="ctr" indent="0" marL="0">
              <a:buNone/>
            </a:pPr>
            <a:r>
              <a:rPr lang="en-US" sz="13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(n_jobs=128, CPU並列)        実際に images/ へ 1,202 枚を生成済み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CAPABILITY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DNM 予測（確率判定）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83611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64592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各候補を変異型別モデル (snp / ins / del) で分類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DNM 確率を出力し、閾値 ≥ 0.5 で de novo と判定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単純な VCF 差分では除けない偽陽性を除去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child / father / mother の coverage も併せて出力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463040" y="4297680"/>
            <a:ext cx="5577840" cy="914400"/>
          </a:xfrm>
          <a:prstGeom prst="rect">
            <a:avLst/>
          </a:prstGeom>
          <a:solidFill>
            <a:srgbClr val="FBF1DD"/>
          </a:solidFill>
          <a:ln w="12700">
            <a:solidFill>
              <a:srgbClr val="C77F1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44988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43708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A1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 dataset.py ではコメントアウト中。元の予測フローは dataset_o.py に保存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178308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8952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テスト性能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89520" y="2377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35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96.74%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7589520" y="3090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recall / sensitivity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589520" y="3474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8FB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96.55%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758952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589520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Khazeeva et al., NAR 2022 (gkac511)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CAPABILITY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保存画像からの予測 &amp; GPU 推論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" y="1828800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" y="1828800"/>
            <a:ext cx="534924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" y="2212848"/>
            <a:ext cx="777240" cy="7772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414930"/>
            <a:ext cx="373075" cy="3730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96796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保存画像からの予測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2396" y="329184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predict_del.py + process_images.py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PNG → /255 正規化 → model.predict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.npy 保存 + 予測分布プロット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deletion モデルのプロトタイプ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68796" y="1828800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68796" y="1828800"/>
            <a:ext cx="5349240" cy="91440"/>
          </a:xfrm>
          <a:prstGeom prst="rect">
            <a:avLst/>
          </a:prstGeom>
          <a:solidFill>
            <a:srgbClr val="4C8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6734556" y="2212848"/>
            <a:ext cx="777240" cy="777240"/>
          </a:xfrm>
          <a:prstGeom prst="ellipse">
            <a:avLst/>
          </a:prstGeom>
          <a:solidFill>
            <a:srgbClr val="4C8FBF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638" y="2414930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94676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GPU 推論 (Docker)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780276" y="329184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tensorflow/build:2.15-python3.11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TF 2.15 + CUDA 12 で GPU 利用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1000 枚 ≈ 0.05 分 (CPUの約10倍)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run_docker.sh で実行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必要な入力と実行環境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" y="1828800"/>
            <a:ext cx="5349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" y="1828800"/>
            <a:ext cx="109728" cy="3474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" y="2212848"/>
            <a:ext cx="777240" cy="7772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414930"/>
            <a:ext cx="373075" cy="3730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96796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入力ファイル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28116" y="3337560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変異リスト TSV（または VCF 3つ）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BAM/CRAM 3つ + index (.bai / .crai)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参照ゲノム FASTA + .fai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CRAM は参照ゲノム必須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68796" y="1828800"/>
            <a:ext cx="5349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68796" y="1828800"/>
            <a:ext cx="109728" cy="3474720"/>
          </a:xfrm>
          <a:prstGeom prst="rect">
            <a:avLst/>
          </a:prstGeom>
          <a:solidFill>
            <a:srgbClr val="4C8FBF"/>
          </a:solidFill>
          <a:ln/>
        </p:spPr>
      </p:sp>
      <p:sp>
        <p:nvSpPr>
          <p:cNvPr id="17" name="Shape 14"/>
          <p:cNvSpPr/>
          <p:nvPr/>
        </p:nvSpPr>
        <p:spPr>
          <a:xfrm>
            <a:off x="6734556" y="2212848"/>
            <a:ext cx="777240" cy="777240"/>
          </a:xfrm>
          <a:prstGeom prst="ellipse">
            <a:avLst/>
          </a:prstGeom>
          <a:solidFill>
            <a:srgbClr val="4C8FBF"/>
          </a:solidFill>
          <a:ln/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638" y="2414930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94676" y="23317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実行環境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825996" y="3337560"/>
            <a:ext cx="4526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conda: TF 2.3.1 — CPU 実行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Docker: TF 2.15 — GPU 実行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外部ツール: bcftools / bgzip / tabix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モデル: snp / ins / del (.h5 + SavedModel)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現状の制約（作業途中）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0" y="45720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67744" y="45720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7" name="Shape 5"/>
          <p:cNvSpPr/>
          <p:nvPr/>
        </p:nvSpPr>
        <p:spPr>
          <a:xfrm>
            <a:off x="11905488" y="45720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DeNovoCNN  ·  現在のコードベース (local-customizations)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515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737360"/>
            <a:ext cx="109728" cy="13258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20240" y="19385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予測フローがコメントアウト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920240" y="23957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既定動作は画像生成のみ。完全な予測には dataset_o.py 相当への復帰が必要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246120"/>
            <a:ext cx="10515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3246120"/>
            <a:ext cx="109728" cy="13258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576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34472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学習コードは未実装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920240" y="3904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models.py / .fit() なし。学習仕様は docs/TRAINING.md に論文から整理済み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2960" y="4754880"/>
            <a:ext cx="10515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B1B2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54880"/>
            <a:ext cx="109728" cy="13258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663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20240" y="49560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画像が変異型混在で出力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920240" y="5413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60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Target がダミー空文字。再予測時は snp/ins/del へのモデル振り分けが必要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777240"/>
            <a:ext cx="155448" cy="155448"/>
          </a:xfrm>
          <a:prstGeom prst="ellipse">
            <a:avLst/>
          </a:prstGeom>
          <a:solidFill>
            <a:srgbClr val="E0524F"/>
          </a:solidFill>
          <a:ln/>
        </p:spPr>
      </p:sp>
      <p:sp>
        <p:nvSpPr>
          <p:cNvPr id="5" name="Shape 3"/>
          <p:cNvSpPr/>
          <p:nvPr/>
        </p:nvSpPr>
        <p:spPr>
          <a:xfrm>
            <a:off x="11576304" y="777240"/>
            <a:ext cx="155448" cy="155448"/>
          </a:xfrm>
          <a:prstGeom prst="ellipse">
            <a:avLst/>
          </a:prstGeom>
          <a:solidFill>
            <a:srgbClr val="3FA35D"/>
          </a:solidFill>
          <a:ln/>
        </p:spPr>
      </p:sp>
      <p:sp>
        <p:nvSpPr>
          <p:cNvPr id="6" name="Shape 4"/>
          <p:cNvSpPr/>
          <p:nvPr/>
        </p:nvSpPr>
        <p:spPr>
          <a:xfrm>
            <a:off x="11814048" y="777240"/>
            <a:ext cx="155448" cy="155448"/>
          </a:xfrm>
          <a:prstGeom prst="ellipse">
            <a:avLst/>
          </a:prstGeom>
          <a:solidFill>
            <a:srgbClr val="4C8F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46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 novo 候補の自動抽出 (bcftools isec -C)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328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9631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トリオ RGB パイルアップ画像の生成（既定動作）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826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DNM 確率の予測（フロー復活で動作・偽陽性フィルタ）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32504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995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2F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保存画像からの予測プロトタイプ &amp; Docker での GPU 推論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solidFill>
            <a:srgbClr val="183A52"/>
          </a:solidFill>
          <a:ln/>
        </p:spPr>
      </p:sp>
      <p:sp>
        <p:nvSpPr>
          <p:cNvPr id="16" name="Shape 10"/>
          <p:cNvSpPr/>
          <p:nvPr/>
        </p:nvSpPr>
        <p:spPr>
          <a:xfrm>
            <a:off x="822960" y="5074920"/>
            <a:ext cx="109728" cy="10058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1"/>
          <p:cNvSpPr/>
          <p:nvPr/>
        </p:nvSpPr>
        <p:spPr>
          <a:xfrm>
            <a:off x="1143000" y="50749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元の予測フロー復活 + 変異型ごとのモデル振り分けで、完全な DNM 予測パイプラインが動作する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DeNovoCNN — 現在のコードベースでできること</dc:title>
  <dc:subject>PptxGenJS Presentation</dc:subject>
  <dc:creator>DeNovoCNN</dc:creator>
  <cp:lastModifiedBy>DeNovoCNN</cp:lastModifiedBy>
  <cp:revision>1</cp:revision>
  <dcterms:created xsi:type="dcterms:W3CDTF">2026-05-31T01:24:17Z</dcterms:created>
  <dcterms:modified xsi:type="dcterms:W3CDTF">2026-05-31T01:24:17Z</dcterms:modified>
</cp:coreProperties>
</file>